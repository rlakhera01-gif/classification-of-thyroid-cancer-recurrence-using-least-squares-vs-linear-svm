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53"/>
    <p:restoredTop sz="94601"/>
  </p:normalViewPr>
  <p:slideViewPr>
    <p:cSldViewPr snapToGrid="0" snapToObjects="1">
      <p:cViewPr varScale="1">
        <p:scale>
          <a:sx n="110" d="100"/>
          <a:sy n="110" d="100"/>
        </p:scale>
        <p:origin x="160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D1081F-3700-E440-844D-45B13E8EAAB8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F2407-023A-6D4F-9F11-76653C461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529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F2407-023A-6D4F-9F11-76653C46129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19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ve.ics.uci.edu/dataset/915/differentiated+thyroid+cancer+recurrence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4461" y="886119"/>
            <a:ext cx="797507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sz="3200" u="sng" dirty="0"/>
              <a:t>Classification of Thyroid Cancer Recurrence</a:t>
            </a:r>
            <a:br>
              <a:rPr sz="3200" u="sng" dirty="0"/>
            </a:br>
            <a:r>
              <a:rPr sz="3200" u="sng" dirty="0"/>
              <a:t>Using Least Squares vs Linear SVM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8DDFB-C044-CE4A-9112-ED5C1F4F132C}"/>
              </a:ext>
            </a:extLst>
          </p:cNvPr>
          <p:cNvSpPr txBox="1"/>
          <p:nvPr/>
        </p:nvSpPr>
        <p:spPr>
          <a:xfrm>
            <a:off x="6615736" y="5395616"/>
            <a:ext cx="194380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- Rahul </a:t>
            </a:r>
            <a:r>
              <a:rPr lang="en-US" sz="2200" dirty="0" err="1">
                <a:solidFill>
                  <a:schemeClr val="bg1"/>
                </a:solidFill>
              </a:rPr>
              <a:t>Lakhera</a:t>
            </a:r>
            <a:endParaRPr lang="en-US" sz="2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417377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sz="3200" u="sng" dirty="0"/>
              <a:t>Motivation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55979"/>
            <a:ext cx="7514106" cy="5345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Cancer recurrence remains a major challenge, with several cancers such as ovarian, glioblastoma, pancreatic, and lung showing relapse rates of </a:t>
            </a:r>
            <a:r>
              <a:rPr lang="en-US" b="1" i="0" u="none" strike="noStrike" dirty="0">
                <a:solidFill>
                  <a:schemeClr val="bg1"/>
                </a:solidFill>
                <a:effectLst/>
              </a:rPr>
              <a:t>50–90%</a:t>
            </a:r>
            <a:r>
              <a:rPr lang="en-US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Even</a:t>
            </a:r>
            <a:r>
              <a:rPr lang="en-US" b="1" i="0" u="none" strike="noStrike" dirty="0">
                <a:solidFill>
                  <a:schemeClr val="bg1"/>
                </a:solidFill>
                <a:effectLst/>
              </a:rPr>
              <a:t> Differentiated Thyroid Cancer (DTC), </a:t>
            </a:r>
            <a:r>
              <a:rPr lang="en-US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though highly curable, recurs in </a:t>
            </a:r>
            <a:r>
              <a:rPr lang="en-US" b="1" i="0" u="none" strike="noStrike" dirty="0">
                <a:solidFill>
                  <a:schemeClr val="bg1"/>
                </a:solidFill>
                <a:effectLst/>
              </a:rPr>
              <a:t>15–30%</a:t>
            </a:r>
            <a:r>
              <a:rPr lang="en-US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 of patients, often years after remission, demanding lifelong follow-up.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This study leverages </a:t>
            </a:r>
            <a:r>
              <a:rPr lang="en-US" b="1" i="0" u="none" strike="noStrike" dirty="0">
                <a:solidFill>
                  <a:schemeClr val="bg1"/>
                </a:solidFill>
                <a:effectLst/>
              </a:rPr>
              <a:t>Machine Learning</a:t>
            </a:r>
            <a:r>
              <a:rPr lang="en-US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 — specifically </a:t>
            </a:r>
            <a:r>
              <a:rPr lang="en-US" b="1" i="0" u="none" strike="noStrike" dirty="0">
                <a:solidFill>
                  <a:schemeClr val="bg1"/>
                </a:solidFill>
                <a:effectLst/>
              </a:rPr>
              <a:t>Least Squares Regression</a:t>
            </a:r>
            <a:r>
              <a:rPr lang="en-US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 and </a:t>
            </a:r>
            <a:r>
              <a:rPr lang="en-US" b="1" i="0" u="none" strike="noStrike" dirty="0">
                <a:solidFill>
                  <a:schemeClr val="bg1"/>
                </a:solidFill>
                <a:effectLst/>
              </a:rPr>
              <a:t>Linear SVM</a:t>
            </a:r>
            <a:r>
              <a:rPr lang="en-US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 — to predict recurrence risk, enabling </a:t>
            </a:r>
            <a:r>
              <a:rPr lang="en-US" b="1" i="0" u="none" strike="noStrike" dirty="0">
                <a:solidFill>
                  <a:schemeClr val="bg1"/>
                </a:solidFill>
                <a:effectLst/>
              </a:rPr>
              <a:t>personalized patient monitoring</a:t>
            </a:r>
            <a:r>
              <a:rPr lang="en-US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 and </a:t>
            </a:r>
            <a:r>
              <a:rPr lang="en-US" b="1" i="0" u="none" strike="noStrike" dirty="0">
                <a:solidFill>
                  <a:schemeClr val="bg1"/>
                </a:solidFill>
                <a:effectLst/>
              </a:rPr>
              <a:t>timely medical intervention</a:t>
            </a:r>
            <a:r>
              <a:rPr lang="en-US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.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dirty="0"/>
              <a:t>Objective: Compare two linear models – Least Squares Regression and Linear SVM – for recurrence prediction.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dirty="0"/>
              <a:t>This study contributes to precision oncology and enhances follow-up planning for thyroid cancer patients.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566796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lang="en-US" sz="3200" u="sng" dirty="0"/>
              <a:t>Background &amp; Literature Review</a:t>
            </a:r>
            <a:endParaRPr sz="3200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1432875"/>
            <a:ext cx="7491481" cy="445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sz="2200" dirty="0"/>
              <a:t>The dataset originates from the UCI ML Repository's Differentiated Thyroid Cancer Recurrence study.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sz="2200" dirty="0"/>
              <a:t>Prior research applied Logistic Regression, Decision Trees, and SVM models achieving accuracies around 0.90–0.94.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sz="2200" dirty="0"/>
              <a:t>This work extends that benchmark using rigorous inner–outer 5-fold cross-validation to ensure reproducibility.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sz="2200" dirty="0"/>
              <a:t>Results show performance consistent or slightly superior to published metrics.</a:t>
            </a:r>
            <a:endParaRPr lang="en-US" sz="2200" dirty="0"/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 lang="en-US" sz="2200" dirty="0"/>
              <a:t>Dataset Reference: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 lang="en-US" sz="2200" dirty="0"/>
              <a:t>UCI ML Repository – </a:t>
            </a:r>
            <a:r>
              <a:rPr lang="en-US" sz="2200" dirty="0">
                <a:hlinkClick r:id="rId2"/>
              </a:rPr>
              <a:t>Differentiated Thyroid Cancer Recurrence Dataset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586750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sz="3200" u="sng" dirty="0"/>
              <a:t>Data Exploration &amp;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51728"/>
            <a:ext cx="7815763" cy="4119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sz="2200" dirty="0"/>
              <a:t>Dataset contained 383 samples with clinical and pathological features.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sz="2200" dirty="0"/>
              <a:t>No missing or null values detected during exploration.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sz="2200" dirty="0"/>
              <a:t>Categorical variables (Gender, Tumor Stage, etc.) encoded via One-Hot Encoding to avoid ordinal bias.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sz="2200" dirty="0" err="1"/>
              <a:t>StandardScaler</a:t>
            </a:r>
            <a:r>
              <a:rPr sz="2200" dirty="0"/>
              <a:t> applied to numeric feature (Age) ensuring mean=0, variance=1.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sz="2200" dirty="0"/>
              <a:t>These steps prevented dominance of high-scale features and stabilized SVM optimization.</a:t>
            </a:r>
            <a:endParaRPr lang="en-US" sz="2200" dirty="0"/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605903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sz="3200" u="sng" dirty="0"/>
              <a:t>Model 1: Least Squares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0643"/>
            <a:ext cx="8046720" cy="5180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sz="2200" dirty="0"/>
              <a:t>Least Squares Regression minimizes squared error; outputs thresholded at 0.5 for binary classification.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sz="2200" dirty="0"/>
              <a:t>Performance:</a:t>
            </a:r>
            <a:endParaRPr lang="en-US" sz="2200" dirty="0"/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 lang="en-US" sz="2200" dirty="0">
                <a:solidFill>
                  <a:schemeClr val="bg1"/>
                </a:solidFill>
              </a:rPr>
              <a:t>	- </a:t>
            </a:r>
            <a:r>
              <a:rPr lang="en-US" dirty="0">
                <a:solidFill>
                  <a:schemeClr val="bg1"/>
                </a:solidFill>
              </a:rPr>
              <a:t>Accuracy: 0.960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bg1"/>
                </a:solidFill>
              </a:rPr>
              <a:t>	- Balanced Accuracy: 0.932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bg1"/>
                </a:solidFill>
              </a:rPr>
              <a:t>	- Precision (No / Yes): 0.95 / 1.00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bg1"/>
                </a:solidFill>
              </a:rPr>
              <a:t>	- Recall (No / Yes): 1.00 / 0.86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bg1"/>
                </a:solidFill>
              </a:rPr>
              <a:t>	- F1-Score (No / Yes): 0.97 / 0.93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sz="2200" dirty="0"/>
              <a:t>Interpretation: Performs well on majority class (non-recurrence</a:t>
            </a:r>
            <a:r>
              <a:rPr lang="en-US" sz="2200" dirty="0"/>
              <a:t>) but</a:t>
            </a:r>
            <a:r>
              <a:rPr sz="2200" dirty="0"/>
              <a:t> misclassifies some recurrence cases.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sz="2200" dirty="0"/>
              <a:t>Indicates mild bias toward dominant class and lack of decision-margin robustness.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373268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sz="3200" u="sng" dirty="0"/>
              <a:t>Model 2: Linear SVM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02231"/>
            <a:ext cx="7919458" cy="5180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dirty="0">
                <a:solidFill>
                  <a:schemeClr val="bg1"/>
                </a:solidFill>
              </a:rPr>
              <a:t>Linear SVM seeks optimal hyperplane maximizing margin between classes.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dirty="0" err="1">
                <a:solidFill>
                  <a:schemeClr val="bg1"/>
                </a:solidFill>
              </a:rPr>
              <a:t>GridSearchCV</a:t>
            </a:r>
            <a:r>
              <a:rPr dirty="0">
                <a:solidFill>
                  <a:schemeClr val="bg1"/>
                </a:solidFill>
              </a:rPr>
              <a:t> tuned C ∈ {0.01, 0.1, 1, 10, 100}; best parameter = 0.1.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bg1"/>
                </a:solidFill>
              </a:rPr>
              <a:t>Performance</a:t>
            </a:r>
            <a:r>
              <a:rPr dirty="0">
                <a:solidFill>
                  <a:schemeClr val="bg1"/>
                </a:solidFill>
              </a:rPr>
              <a:t>:</a:t>
            </a:r>
            <a:endParaRPr lang="en-US" dirty="0">
              <a:solidFill>
                <a:schemeClr val="bg1"/>
              </a:solidFill>
            </a:endParaRP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 lang="en-US" sz="2200" dirty="0">
                <a:solidFill>
                  <a:schemeClr val="bg1"/>
                </a:solidFill>
              </a:rPr>
              <a:t>	- Accuracy: 0.974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 lang="en-US" sz="2200" dirty="0">
                <a:solidFill>
                  <a:schemeClr val="bg1"/>
                </a:solidFill>
              </a:rPr>
              <a:t>	- Balanced Accuracy: 0.955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 lang="en-US" sz="2200" dirty="0">
                <a:solidFill>
                  <a:schemeClr val="bg1"/>
                </a:solidFill>
              </a:rPr>
              <a:t>	- Precision (No / Yes): 0.96 / 1.00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 lang="en-US" sz="2200" dirty="0">
                <a:solidFill>
                  <a:schemeClr val="bg1"/>
                </a:solidFill>
              </a:rPr>
              <a:t>	- Recall (No / Yes): 1.00 / 0.91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 lang="en-US" sz="2200" dirty="0">
                <a:solidFill>
                  <a:schemeClr val="bg1"/>
                </a:solidFill>
              </a:rPr>
              <a:t>	- F1-Score (No / Yes): 0.98 / 0.95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sz="2200" dirty="0">
                <a:solidFill>
                  <a:schemeClr val="bg1"/>
                </a:solidFill>
              </a:rPr>
              <a:t>Inference: Superior recall for recurrence class, fewer false negatives, stronger boundary discrimination.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5287" y="325224"/>
            <a:ext cx="526342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sz="3200" u="sng" dirty="0"/>
              <a:t>Confusion Matrix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6565" y="5547891"/>
            <a:ext cx="755087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SVM shows clearer class separation and fewer false negatives than Least Squares Regression.</a:t>
            </a:r>
          </a:p>
        </p:txBody>
      </p:sp>
      <p:pic>
        <p:nvPicPr>
          <p:cNvPr id="7" name="Picture 6" descr="A screenshot of a graph&#10;&#10;Description automatically generated">
            <a:extLst>
              <a:ext uri="{FF2B5EF4-FFF2-40B4-BE49-F238E27FC236}">
                <a16:creationId xmlns:a16="http://schemas.microsoft.com/office/drawing/2014/main" id="{2415B444-FFA4-5C6F-6B30-2F76F58AD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893" y="1081057"/>
            <a:ext cx="3692877" cy="4520370"/>
          </a:xfrm>
          <a:prstGeom prst="rect">
            <a:avLst/>
          </a:prstGeom>
        </p:spPr>
      </p:pic>
      <p:pic>
        <p:nvPicPr>
          <p:cNvPr id="9" name="Picture 8" descr="A screenshot of a graph&#10;&#10;Description automatically generated">
            <a:extLst>
              <a:ext uri="{FF2B5EF4-FFF2-40B4-BE49-F238E27FC236}">
                <a16:creationId xmlns:a16="http://schemas.microsoft.com/office/drawing/2014/main" id="{2E89849E-C6D6-4CCC-A1C7-FC9B4401B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32" y="1081057"/>
            <a:ext cx="3692877" cy="45203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375077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sz="3200" u="sng" dirty="0"/>
              <a:t>Discussion &amp;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16058"/>
            <a:ext cx="804672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bg1"/>
                </a:solidFill>
              </a:rPr>
              <a:t>Preprocessing</a:t>
            </a:r>
            <a:r>
              <a:rPr lang="en-US" sz="2200" dirty="0">
                <a:solidFill>
                  <a:schemeClr val="bg1"/>
                </a:solidFill>
              </a:rPr>
              <a:t> (One-Hot Encoding &amp; Scaling) greatly improved model stability and fairness.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bg1"/>
                </a:solidFill>
              </a:rPr>
              <a:t>SVM</a:t>
            </a:r>
            <a:r>
              <a:rPr lang="en-US" sz="2200" dirty="0">
                <a:solidFill>
                  <a:schemeClr val="bg1"/>
                </a:solidFill>
              </a:rPr>
              <a:t> handled mild non-linearity and class imbalance better due to margin optimization.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bg1"/>
                </a:solidFill>
              </a:rPr>
              <a:t>Least Squares</a:t>
            </a:r>
            <a:r>
              <a:rPr lang="en-US" sz="2200" dirty="0">
                <a:solidFill>
                  <a:schemeClr val="bg1"/>
                </a:solidFill>
              </a:rPr>
              <a:t> was interpretable but less effective in separating binary classes.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bg1"/>
                </a:solidFill>
              </a:rPr>
              <a:t>SVM’s higher recall</a:t>
            </a:r>
            <a:r>
              <a:rPr lang="en-US" sz="2200" dirty="0">
                <a:solidFill>
                  <a:schemeClr val="bg1"/>
                </a:solidFill>
              </a:rPr>
              <a:t> reduced false negatives — critical for early recurrence detection.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Overall, </a:t>
            </a:r>
            <a:r>
              <a:rPr lang="en-US" sz="2200" b="1" dirty="0">
                <a:solidFill>
                  <a:schemeClr val="bg1"/>
                </a:solidFill>
              </a:rPr>
              <a:t>SVM outperformed</a:t>
            </a:r>
            <a:r>
              <a:rPr lang="en-US" sz="2200" dirty="0">
                <a:solidFill>
                  <a:schemeClr val="bg1"/>
                </a:solidFill>
              </a:rPr>
              <a:t> by balancing accuracy, generalization, and clinical reliability.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4980" y="251460"/>
            <a:ext cx="464761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sz="3200" u="sng" dirty="0"/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4968" y="1121985"/>
            <a:ext cx="8574064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The </a:t>
            </a:r>
            <a:r>
              <a:rPr lang="en-US" sz="2200" b="1" dirty="0">
                <a:solidFill>
                  <a:schemeClr val="bg1"/>
                </a:solidFill>
              </a:rPr>
              <a:t>Linear SVM model</a:t>
            </a:r>
            <a:r>
              <a:rPr lang="en-US" sz="2200" dirty="0">
                <a:solidFill>
                  <a:schemeClr val="bg1"/>
                </a:solidFill>
              </a:rPr>
              <a:t> achieved a higher </a:t>
            </a:r>
            <a:r>
              <a:rPr lang="en-US" sz="2200" b="1" dirty="0">
                <a:solidFill>
                  <a:schemeClr val="bg1"/>
                </a:solidFill>
              </a:rPr>
              <a:t>balanced accuracy (0.955)</a:t>
            </a:r>
            <a:r>
              <a:rPr lang="en-US" sz="2200" dirty="0">
                <a:solidFill>
                  <a:schemeClr val="bg1"/>
                </a:solidFill>
              </a:rPr>
              <a:t> compared to </a:t>
            </a:r>
            <a:r>
              <a:rPr lang="en-US" sz="2200" b="1" dirty="0">
                <a:solidFill>
                  <a:schemeClr val="bg1"/>
                </a:solidFill>
              </a:rPr>
              <a:t>Least Squares Regression (0.932)</a:t>
            </a:r>
            <a:r>
              <a:rPr lang="en-US" sz="2200" dirty="0">
                <a:solidFill>
                  <a:schemeClr val="bg1"/>
                </a:solidFill>
              </a:rPr>
              <a:t>, demonstrating superior classification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The SVM generalized better across folds, effectively handling the </a:t>
            </a:r>
            <a:r>
              <a:rPr lang="en-US" sz="2200" b="1" dirty="0">
                <a:solidFill>
                  <a:schemeClr val="bg1"/>
                </a:solidFill>
              </a:rPr>
              <a:t>slight class imbalance</a:t>
            </a:r>
            <a:r>
              <a:rPr lang="en-US" sz="2200" dirty="0">
                <a:solidFill>
                  <a:schemeClr val="bg1"/>
                </a:solidFill>
              </a:rPr>
              <a:t> and </a:t>
            </a:r>
            <a:r>
              <a:rPr lang="en-US" sz="2200" b="1" dirty="0">
                <a:solidFill>
                  <a:schemeClr val="bg1"/>
                </a:solidFill>
              </a:rPr>
              <a:t>non-linear feature relationships</a:t>
            </a:r>
            <a:r>
              <a:rPr lang="en-US" sz="2200" dirty="0">
                <a:solidFill>
                  <a:schemeClr val="bg1"/>
                </a:solidFill>
              </a:rPr>
              <a:t> present in the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bg1"/>
                </a:solidFill>
              </a:rPr>
              <a:t>Least Squares Regression</a:t>
            </a:r>
            <a:r>
              <a:rPr lang="en-US" sz="2200" dirty="0">
                <a:solidFill>
                  <a:schemeClr val="bg1"/>
                </a:solidFill>
              </a:rPr>
              <a:t>, while interpretable and computationally simple, showed limitations in modeling binary class boundaries, resulting in misclassification of a few recurrence cases.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The study highlights the </a:t>
            </a:r>
            <a:r>
              <a:rPr lang="en-US" sz="2200" b="1" dirty="0">
                <a:solidFill>
                  <a:schemeClr val="bg1"/>
                </a:solidFill>
              </a:rPr>
              <a:t>importance of proper data preprocessing, </a:t>
            </a:r>
            <a:r>
              <a:rPr lang="en-US" sz="2200" dirty="0">
                <a:solidFill>
                  <a:schemeClr val="bg1"/>
                </a:solidFill>
              </a:rPr>
              <a:t>One-Hot Encoding and Standard Scaling significantly improved model stability and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These results emphasize how </a:t>
            </a:r>
            <a:r>
              <a:rPr lang="en-US" sz="2200" b="1" dirty="0">
                <a:solidFill>
                  <a:schemeClr val="bg1"/>
                </a:solidFill>
              </a:rPr>
              <a:t>machine learning can complement clinical expertise</a:t>
            </a:r>
            <a:r>
              <a:rPr lang="en-US" sz="2200" dirty="0">
                <a:solidFill>
                  <a:schemeClr val="bg1"/>
                </a:solidFill>
              </a:rPr>
              <a:t>, supporting early detection of recurrence and enabling more </a:t>
            </a:r>
            <a:r>
              <a:rPr lang="en-US" sz="2200" b="1" dirty="0">
                <a:solidFill>
                  <a:schemeClr val="bg1"/>
                </a:solidFill>
              </a:rPr>
              <a:t>personalized patient follow-up strategies</a:t>
            </a:r>
            <a:r>
              <a:rPr lang="en-US" sz="2200"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680</Words>
  <Application>Microsoft Macintosh PowerPoint</Application>
  <PresentationFormat>On-screen Show (4:3)</PresentationFormat>
  <Paragraphs>57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-webkit-standard</vt:lpstr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Lakhera, Rahul</cp:lastModifiedBy>
  <cp:revision>9</cp:revision>
  <dcterms:created xsi:type="dcterms:W3CDTF">2013-01-27T09:14:16Z</dcterms:created>
  <dcterms:modified xsi:type="dcterms:W3CDTF">2025-12-30T00:44:45Z</dcterms:modified>
  <cp:category/>
</cp:coreProperties>
</file>